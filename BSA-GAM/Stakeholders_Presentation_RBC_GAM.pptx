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04_0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ED87E35-BA09-0FB0-3EEE-6D5D11D0A071}" name="Mahmoud Elboghdady" initials="ME" userId="S::Mahmoud.Elboghdady@jrvs.ca::fe424501-0b46-4051-b8bd-e3e975f61d4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20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8/10/relationships/authors" Target="authors.xml"/></Relationships>
</file>

<file path=ppt/comments/modernComment_104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1630DD8-0085-A84E-87F8-CD15E0BEE64E}" authorId="{EED87E35-BA09-0FB0-3EEE-6D5D11D0A071}" created="2026-06-22T16:07:22.741">
    <pc:sldMkLst xmlns:pc="http://schemas.microsoft.com/office/powerpoint/2013/main/command">
      <pc:docMk/>
      <pc:sldMk cId="0" sldId="260"/>
    </pc:sldMkLst>
    <p188:txBody>
      <a:bodyPr/>
      <a:lstStyle/>
      <a:p>
        <a:r>
          <a:rPr lang="en-US"/>
          <a:t>The dashboard carries the agreed metric set - four families: revenue, pipeline, headcount, and strategic initiatives - all defined in full in the BRD.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0494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thesis. We replace a 25-hour manual report that put a wrong number in front of the CFO with an automated dashboard on the Power BI we already own — deliverable this planning cycle, no new platform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analysts, 25–27 hours, five disconnected systems — for a report only 3–5 of 40 leaders read. Last month an undetected headcount error, 1,872 vs the correct 1,856, reached the CFO and forced a reissue. We spend senior capacity on a report few read, and a single slip put a wrong number in front of the CFO.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dashboard on the Power BI we already license. It pulls all five systems automatically, validates and blocks publishing on error, and serves role-based views — CFO and leaders see headlines, business heads see their area, analysts see source data and flags. Refreshes daily; an on-demand PDF replaces the daily blast. No new platform or licence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slide. Under 3 hours, zero undetected errors, adoption from 10% to 80%, and ~270 analyst hours recovered a year. The cost of inaction: miss this cycle's IT GCC window and delivery slips up to a year. A measurable productivity and risk-reduction win, at no new platform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briskly here. Five requirements define the MVP, each written as a pass/fail condition the dev team can build and test against. Four must-haves — extraction, the validation gate, role-based access, daily refresh — and one should-have: automating the FinTrack–Salesforce reconciliation, the single biggest manual task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CFO and Will both care about this slide. Three risks, all with mitigations: PipelineDB's broken export — Phase 1 runs on a scheduled manual extract, then migrates to the API; the chronic reconciliation mismatch — automate rule-based matching; the IT GCC window — miss it and go-live slips. Four decisions are yours: the IT GCC target and go-live date, the adoption measurement window, the PipelineDB approach plus compliance review, and confirming the CFO's real-time feed as Phase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 and bookend with the same framing. Approve BRD v0.1 and confirm the target IT GCC meeting this cycle. Five next steps follow. End on it: from 25 hours and a CFO-facing error to under 3 hours and zero undetected errors — deliverable this planning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1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575" y="990575"/>
            <a:ext cx="398145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STAKEHOLDER BRIEFING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2773049" y="990575"/>
            <a:ext cx="4976813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RBC GAM · DATA &amp; INSIGHTS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990575" y="3046822"/>
            <a:ext cx="1718310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8B8E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PERFORMANCE REPORT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990575" y="3676241"/>
            <a:ext cx="16089630" cy="2058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800" b="1" kern="0" spc="-21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Automating the Monthly Performance Report</a:t>
            </a:r>
            <a:endParaRPr lang="en-US" sz="7800" dirty="0"/>
          </a:p>
        </p:txBody>
      </p:sp>
      <p:sp>
        <p:nvSpPr>
          <p:cNvPr id="7" name="Shape 5"/>
          <p:cNvSpPr/>
          <p:nvPr/>
        </p:nvSpPr>
        <p:spPr>
          <a:xfrm>
            <a:off x="990575" y="6116030"/>
            <a:ext cx="47625" cy="1028898"/>
          </a:xfrm>
          <a:prstGeom prst="roundRect">
            <a:avLst>
              <a:gd name="adj" fmla="val 40000"/>
            </a:avLst>
          </a:prstGeom>
          <a:solidFill>
            <a:srgbClr val="3B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3950" y="6116030"/>
            <a:ext cx="12606814" cy="10669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3000" dirty="0">
                <a:solidFill>
                  <a:srgbClr val="CD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hours and a CFO-facing error </a:t>
            </a:r>
            <a:r>
              <a:rPr lang="en-US" sz="3000" dirty="0">
                <a:solidFill>
                  <a:srgbClr val="CD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3000" b="1" dirty="0">
                <a:solidFill>
                  <a:srgbClr val="7BA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 hours and zero undetected errors </a:t>
            </a:r>
            <a:r>
              <a:rPr lang="en-US" sz="3000" dirty="0">
                <a:solidFill>
                  <a:srgbClr val="CD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0575" y="8895581"/>
            <a:ext cx="16306849" cy="9525"/>
          </a:xfrm>
          <a:prstGeom prst="rect">
            <a:avLst/>
          </a:prstGeom>
          <a:solidFill>
            <a:srgbClr val="2C3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575" y="9189268"/>
            <a:ext cx="746842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B8E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Mahmoud Elboghdady · Business Systems Analyst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827249" y="9189268"/>
            <a:ext cx="381719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8B8E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BRD v0.1 · 22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575" y="876288"/>
            <a:ext cx="3185201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5335994" y="884225"/>
            <a:ext cx="2157574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39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state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575" y="1429494"/>
            <a:ext cx="15304770" cy="1272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8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manual, 25-hour reporting cycle is slow, costly, and exposing the bank to executive-level error.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90575" y="3121050"/>
            <a:ext cx="16306849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59350" y="3130537"/>
            <a:ext cx="9525" cy="3233291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90575" y="3644863"/>
            <a:ext cx="4014670" cy="10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234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25–27</a:t>
            </a:r>
            <a:r>
              <a:rPr lang="en-US" sz="3450" b="1" kern="0" spc="-234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800" dirty="0"/>
          </a:p>
        </p:txBody>
      </p:sp>
      <p:sp>
        <p:nvSpPr>
          <p:cNvPr id="9" name="Text 7"/>
          <p:cNvSpPr/>
          <p:nvPr/>
        </p:nvSpPr>
        <p:spPr>
          <a:xfrm>
            <a:off x="990575" y="4844975"/>
            <a:ext cx="401467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 CYCLE, BY HAND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990575" y="5283894"/>
            <a:ext cx="3759191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3C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analysts assemble the report each month across five disconnected systems.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136062" y="3130537"/>
            <a:ext cx="9525" cy="3233291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363" y="3644863"/>
            <a:ext cx="3553687" cy="10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234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</a:t>
            </a:r>
            <a:r>
              <a:rPr lang="en-US" sz="3450" b="1" kern="0" spc="-234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800" dirty="0"/>
          </a:p>
        </p:txBody>
      </p:sp>
      <p:sp>
        <p:nvSpPr>
          <p:cNvPr id="13" name="Text 11"/>
          <p:cNvSpPr/>
          <p:nvPr/>
        </p:nvSpPr>
        <p:spPr>
          <a:xfrm>
            <a:off x="5486363" y="4844975"/>
            <a:ext cx="3553687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ACTUALLY, READ IT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5486363" y="5283894"/>
            <a:ext cx="3327543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3C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~40 senior leaders who receive it, only 3–5 actively read it.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3212775" y="3130537"/>
            <a:ext cx="9525" cy="353888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63075" y="3644863"/>
            <a:ext cx="3553687" cy="10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234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3–4</a:t>
            </a:r>
            <a:r>
              <a:rPr lang="en-US" sz="3450" b="1" kern="0" spc="-234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</a:t>
            </a:r>
            <a:endParaRPr lang="en-US" sz="7800" dirty="0"/>
          </a:p>
        </p:txBody>
      </p:sp>
      <p:sp>
        <p:nvSpPr>
          <p:cNvPr id="17" name="Text 15"/>
          <p:cNvSpPr/>
          <p:nvPr/>
        </p:nvSpPr>
        <p:spPr>
          <a:xfrm>
            <a:off x="9563075" y="4844975"/>
            <a:ext cx="3327543" cy="6492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RECONCILIATION ALONE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9563075" y="5589488"/>
            <a:ext cx="3327543" cy="11180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25" dirty="0">
                <a:solidFill>
                  <a:srgbClr val="3C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matching FinTrack to Salesforce by hand  ~12 exceptions a month.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13639787" y="3644863"/>
            <a:ext cx="4023401" cy="10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800" b="1" kern="0" spc="-234" dirty="0">
                <a:solidFill>
                  <a:srgbClr val="B051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800" dirty="0"/>
          </a:p>
        </p:txBody>
      </p:sp>
      <p:sp>
        <p:nvSpPr>
          <p:cNvPr id="20" name="Text 18"/>
          <p:cNvSpPr/>
          <p:nvPr/>
        </p:nvSpPr>
        <p:spPr>
          <a:xfrm>
            <a:off x="13639787" y="4844975"/>
            <a:ext cx="4023401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B05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CFO-FACING ERROR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639787" y="5283894"/>
            <a:ext cx="3767366" cy="11220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sz="2025" dirty="0">
                <a:solidFill>
                  <a:srgbClr val="3C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undetected headcount slip of </a:t>
            </a: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1,872 vs. 1,856 </a:t>
            </a:r>
            <a:r>
              <a:rPr lang="en-US" sz="2025" dirty="0">
                <a:solidFill>
                  <a:srgbClr val="3C40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the CFO and forced a reissue.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990575" y="8437438"/>
            <a:ext cx="16306849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0575" y="8869908"/>
            <a:ext cx="1228502" cy="296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WHAT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409527" y="8770689"/>
            <a:ext cx="15334534" cy="7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32000"/>
              </a:lnSpc>
            </a:pPr>
            <a:r>
              <a:rPr lang="en-US" sz="22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analyst capacity is spent on a report that few people read, and a single manual slip put a wrong number in front of the CFO.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575" y="876288"/>
            <a:ext cx="3384246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SOLUTION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5185120" y="884225"/>
            <a:ext cx="232353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39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 state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575" y="1429494"/>
            <a:ext cx="15304770" cy="1889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8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automated dashboard on the bank's existing Power BI - extracted, validated, and refreshed daily.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90575" y="3700177"/>
            <a:ext cx="450532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FIVE SOURCE SYSTEMS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90575" y="4234346"/>
            <a:ext cx="4095750" cy="672207"/>
          </a:xfrm>
          <a:prstGeom prst="rect">
            <a:avLst/>
          </a:prstGeom>
          <a:solidFill>
            <a:srgbClr val="FFFFFF"/>
          </a:solidFill>
          <a:ln w="7937">
            <a:solidFill>
              <a:srgbClr val="E1D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27113" y="4413734"/>
            <a:ext cx="3745548" cy="351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90575" y="5030328"/>
            <a:ext cx="4095750" cy="672207"/>
          </a:xfrm>
          <a:prstGeom prst="rect">
            <a:avLst/>
          </a:prstGeom>
          <a:solidFill>
            <a:srgbClr val="FFFFFF"/>
          </a:solidFill>
          <a:ln w="7937">
            <a:solidFill>
              <a:srgbClr val="E1D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27113" y="5209716"/>
            <a:ext cx="3745548" cy="351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FinTrack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90575" y="5826311"/>
            <a:ext cx="4095750" cy="672207"/>
          </a:xfrm>
          <a:prstGeom prst="rect">
            <a:avLst/>
          </a:prstGeom>
          <a:solidFill>
            <a:srgbClr val="FFFFFF"/>
          </a:solidFill>
          <a:ln w="7937">
            <a:solidFill>
              <a:srgbClr val="E1D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27113" y="6005698"/>
            <a:ext cx="3745548" cy="351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headcount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90575" y="6622293"/>
            <a:ext cx="4095750" cy="672207"/>
          </a:xfrm>
          <a:prstGeom prst="rect">
            <a:avLst/>
          </a:prstGeom>
          <a:solidFill>
            <a:srgbClr val="FFFFFF"/>
          </a:solidFill>
          <a:ln w="7937">
            <a:solidFill>
              <a:srgbClr val="E1D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27113" y="6801681"/>
            <a:ext cx="3745548" cy="351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PipelineDB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90575" y="7418276"/>
            <a:ext cx="4095750" cy="672207"/>
          </a:xfrm>
          <a:prstGeom prst="rect">
            <a:avLst/>
          </a:prstGeom>
          <a:solidFill>
            <a:srgbClr val="FFFFFF"/>
          </a:solidFill>
          <a:ln w="7937">
            <a:solidFill>
              <a:srgbClr val="E1DF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27113" y="7597663"/>
            <a:ext cx="3745548" cy="3515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 tracker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90575" y="8261883"/>
            <a:ext cx="4218623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2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automated via API; PipelineDB and the COO tracker phased 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48225" y="6046515"/>
            <a:ext cx="781025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B9B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791150" y="4213262"/>
            <a:ext cx="2857500" cy="4130787"/>
          </a:xfrm>
          <a:prstGeom prst="rect">
            <a:avLst/>
          </a:prstGeom>
          <a:solidFill>
            <a:srgbClr val="1B2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14976" y="4594262"/>
            <a:ext cx="2286050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80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GATE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14976" y="5399112"/>
            <a:ext cx="2286050" cy="1135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Blocks publication on error.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114976" y="6667748"/>
            <a:ext cx="2286050" cy="13334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6000"/>
              </a:lnSpc>
            </a:pPr>
            <a:r>
              <a:rPr lang="en-US" sz="1875" dirty="0">
                <a:solidFill>
                  <a:srgbClr val="BC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checked before release; nothing reaches leaders unchecked.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8610550" y="6046515"/>
            <a:ext cx="781025" cy="5024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000" dirty="0">
                <a:solidFill>
                  <a:srgbClr val="B9B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53476" y="4137670"/>
            <a:ext cx="8738344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DASHBOARD · THREE ROLE VIEWS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353476" y="4671839"/>
            <a:ext cx="7943949" cy="10104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353476" y="5674320"/>
            <a:ext cx="7943949" cy="9525"/>
          </a:xfrm>
          <a:prstGeom prst="rect">
            <a:avLst/>
          </a:prstGeom>
          <a:solidFill>
            <a:srgbClr val="E1D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353476" y="4671839"/>
            <a:ext cx="7943949" cy="9525"/>
          </a:xfrm>
          <a:prstGeom prst="rect">
            <a:avLst/>
          </a:prstGeom>
          <a:solidFill>
            <a:srgbClr val="E1D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353476" y="4671839"/>
            <a:ext cx="35719" cy="1010419"/>
          </a:xfrm>
          <a:prstGeom prst="rect">
            <a:avLst/>
          </a:prstGeom>
          <a:solidFill>
            <a:srgbClr val="3B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7289487" y="4671839"/>
            <a:ext cx="9525" cy="1010419"/>
          </a:xfrm>
          <a:prstGeom prst="rect">
            <a:avLst/>
          </a:prstGeom>
          <a:solidFill>
            <a:srgbClr val="E1D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636807" y="4870276"/>
            <a:ext cx="8145574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leaders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9636807" y="5206008"/>
            <a:ext cx="814557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Headlines only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353476" y="5806033"/>
            <a:ext cx="7943949" cy="10104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353476" y="6808514"/>
            <a:ext cx="7943949" cy="9525"/>
          </a:xfrm>
          <a:prstGeom prst="rect">
            <a:avLst/>
          </a:prstGeom>
          <a:solidFill>
            <a:srgbClr val="E1D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353476" y="5806033"/>
            <a:ext cx="7943949" cy="9525"/>
          </a:xfrm>
          <a:prstGeom prst="rect">
            <a:avLst/>
          </a:prstGeom>
          <a:solidFill>
            <a:srgbClr val="E1D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353476" y="5806033"/>
            <a:ext cx="35719" cy="1010419"/>
          </a:xfrm>
          <a:prstGeom prst="rect">
            <a:avLst/>
          </a:prstGeom>
          <a:solidFill>
            <a:srgbClr val="6B9B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7289487" y="5806033"/>
            <a:ext cx="9525" cy="1010419"/>
          </a:xfrm>
          <a:prstGeom prst="rect">
            <a:avLst/>
          </a:prstGeom>
          <a:solidFill>
            <a:srgbClr val="E1D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636807" y="6004471"/>
            <a:ext cx="8145574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heads</a:t>
            </a:r>
            <a:endParaRPr lang="en-US" sz="2025" dirty="0"/>
          </a:p>
        </p:txBody>
      </p:sp>
      <p:sp>
        <p:nvSpPr>
          <p:cNvPr id="38" name="Text 36"/>
          <p:cNvSpPr/>
          <p:nvPr/>
        </p:nvSpPr>
        <p:spPr>
          <a:xfrm>
            <a:off x="9636807" y="6340202"/>
            <a:ext cx="814557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own area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353476" y="6940228"/>
            <a:ext cx="7943949" cy="10104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353476" y="7942709"/>
            <a:ext cx="7943949" cy="9525"/>
          </a:xfrm>
          <a:prstGeom prst="rect">
            <a:avLst/>
          </a:prstGeom>
          <a:solidFill>
            <a:srgbClr val="E1D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353476" y="6940228"/>
            <a:ext cx="7943949" cy="9525"/>
          </a:xfrm>
          <a:prstGeom prst="rect">
            <a:avLst/>
          </a:prstGeom>
          <a:solidFill>
            <a:srgbClr val="E1D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9353476" y="6940228"/>
            <a:ext cx="35719" cy="1010419"/>
          </a:xfrm>
          <a:prstGeom prst="rect">
            <a:avLst/>
          </a:prstGeom>
          <a:solidFill>
            <a:srgbClr val="9CBB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7289487" y="6940228"/>
            <a:ext cx="9525" cy="1010419"/>
          </a:xfrm>
          <a:prstGeom prst="rect">
            <a:avLst/>
          </a:prstGeom>
          <a:solidFill>
            <a:srgbClr val="E1DF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636807" y="7138665"/>
            <a:ext cx="8145574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9636807" y="7474396"/>
            <a:ext cx="8145574" cy="315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 &amp; flags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9353476" y="8122047"/>
            <a:ext cx="8738344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8285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Refreshes daily · on-demand PDF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90575" y="9356328"/>
            <a:ext cx="1228502" cy="296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WHAT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409527" y="9257109"/>
            <a:ext cx="15334534" cy="7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numbers, in a fraction of the time, with errors caught before anyone sees them, on infrastructure the bank already owns.</a:t>
            </a:r>
            <a:endParaRPr lang="en-US" sz="2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575" y="876288"/>
            <a:ext cx="2986088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THE IMPACT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5184685" y="884225"/>
            <a:ext cx="232401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39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→ After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575" y="1429494"/>
            <a:ext cx="15304770" cy="1272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8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 hours, zero undetected errors, and a report leaders actually use.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90575" y="3082975"/>
            <a:ext cx="16306849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90575" y="4638229"/>
            <a:ext cx="10172774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34237" y="4161234"/>
            <a:ext cx="209550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8753524" y="4161234"/>
            <a:ext cx="240982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buNone/>
            </a:pPr>
            <a:r>
              <a:rPr lang="en-US" sz="1875" kern="0" spc="300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PROPOSED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90575" y="5674072"/>
            <a:ext cx="10172774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575" y="4993431"/>
            <a:ext cx="63075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time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6534237" y="4963666"/>
            <a:ext cx="2095500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700" b="1" strike="sngStrike" dirty="0">
                <a:solidFill>
                  <a:srgbClr val="9A9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25–27h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8591637" y="5011291"/>
            <a:ext cx="41906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B9B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8753524" y="4931916"/>
            <a:ext cx="2409825" cy="494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3150" b="1" dirty="0">
                <a:solidFill>
                  <a:srgbClr val="1B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3h</a:t>
            </a:r>
            <a:endParaRPr lang="en-US" sz="3150" dirty="0"/>
          </a:p>
        </p:txBody>
      </p:sp>
      <p:sp>
        <p:nvSpPr>
          <p:cNvPr id="15" name="Shape 13"/>
          <p:cNvSpPr/>
          <p:nvPr/>
        </p:nvSpPr>
        <p:spPr>
          <a:xfrm>
            <a:off x="990575" y="6709916"/>
            <a:ext cx="10172774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0575" y="6029275"/>
            <a:ext cx="63075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Undetected errors</a:t>
            </a:r>
            <a:endParaRPr lang="en-US" sz="2175" dirty="0"/>
          </a:p>
        </p:txBody>
      </p:sp>
      <p:sp>
        <p:nvSpPr>
          <p:cNvPr id="17" name="Text 15"/>
          <p:cNvSpPr/>
          <p:nvPr/>
        </p:nvSpPr>
        <p:spPr>
          <a:xfrm>
            <a:off x="6534237" y="5999509"/>
            <a:ext cx="2095500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700" b="1" strike="sngStrike" dirty="0">
                <a:solidFill>
                  <a:srgbClr val="9A9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1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8591637" y="6047134"/>
            <a:ext cx="41906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B9B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753524" y="5967760"/>
            <a:ext cx="2409825" cy="494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3150" b="1" dirty="0">
                <a:solidFill>
                  <a:srgbClr val="1B2C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990575" y="7065119"/>
            <a:ext cx="630757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6534237" y="7035353"/>
            <a:ext cx="2095500" cy="43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2700" b="1" strike="sngStrike" dirty="0">
                <a:solidFill>
                  <a:srgbClr val="9A9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8591637" y="7082978"/>
            <a:ext cx="41906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B9B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753524" y="7003603"/>
            <a:ext cx="2409825" cy="494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buNone/>
            </a:pPr>
            <a:r>
              <a:rPr lang="en-US" sz="3150" b="1" dirty="0">
                <a:solidFill>
                  <a:srgbClr val="3B6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150" dirty="0"/>
          </a:p>
        </p:txBody>
      </p:sp>
      <p:sp>
        <p:nvSpPr>
          <p:cNvPr id="24" name="Shape 22"/>
          <p:cNvSpPr/>
          <p:nvPr/>
        </p:nvSpPr>
        <p:spPr>
          <a:xfrm>
            <a:off x="11963424" y="3634631"/>
            <a:ext cx="5334000" cy="3299581"/>
          </a:xfrm>
          <a:prstGeom prst="rect">
            <a:avLst/>
          </a:prstGeom>
          <a:solidFill>
            <a:srgbClr val="1B2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401537" y="4091781"/>
            <a:ext cx="4903552" cy="11597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9600" b="1" kern="0" spc="-28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~270</a:t>
            </a:r>
            <a:endParaRPr lang="en-US" sz="9600" dirty="0"/>
          </a:p>
        </p:txBody>
      </p:sp>
      <p:sp>
        <p:nvSpPr>
          <p:cNvPr id="26" name="Text 24"/>
          <p:cNvSpPr/>
          <p:nvPr/>
        </p:nvSpPr>
        <p:spPr>
          <a:xfrm>
            <a:off x="12401537" y="5346774"/>
            <a:ext cx="4903552" cy="411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hours recovered / year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12401537" y="5834124"/>
            <a:ext cx="4591508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75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Including ~42 hrs/yr from automated reconciliation.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1963424" y="7286612"/>
            <a:ext cx="1475929" cy="573832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144" dirty="0">
                <a:solidFill>
                  <a:srgbClr val="B051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COST OF INACTION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401537" y="7657958"/>
            <a:ext cx="4168022" cy="10524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36000"/>
              </a:lnSpc>
            </a:pPr>
            <a:r>
              <a:rPr lang="en-US" sz="19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 this planning cycle's IT GCC window, and delivery slips </a:t>
            </a:r>
            <a:r>
              <a:rPr lang="en-US" sz="1950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a year</a:t>
            </a:r>
            <a:r>
              <a:rPr lang="en-US" sz="19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90575" y="8814593"/>
            <a:ext cx="16306849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0575" y="9247063"/>
            <a:ext cx="1228502" cy="296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WHAT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409527" y="9147845"/>
            <a:ext cx="12613996" cy="41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measurable productivity and risk-reduction win this cycle — at no new platform cost.</a:t>
            </a:r>
            <a:endParaRPr lang="en-US" sz="2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693"/>
            <a:ext cx="18288000" cy="10287000"/>
          </a:xfrm>
          <a:prstGeom prst="rect">
            <a:avLst/>
          </a:prstGeom>
          <a:solidFill>
            <a:srgbClr val="F5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575" y="876288"/>
            <a:ext cx="398145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WHAT IT MUST DO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5939492" y="884225"/>
            <a:ext cx="149372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39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MVP scope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575" y="1429494"/>
            <a:ext cx="15304770" cy="1272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8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requirements define the MVP, each testable, and tied to an outcome.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90575" y="3671900"/>
            <a:ext cx="16306849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0575" y="3213943"/>
            <a:ext cx="134106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2209726" y="3213943"/>
            <a:ext cx="1181063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3314588" y="3213943"/>
            <a:ext cx="15381120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90575" y="4505337"/>
            <a:ext cx="16306849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0575" y="3931853"/>
            <a:ext cx="134106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BR-001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2209726" y="3908041"/>
            <a:ext cx="848072" cy="369094"/>
          </a:xfrm>
          <a:prstGeom prst="rect">
            <a:avLst/>
          </a:prstGeom>
          <a:ln w="7937">
            <a:solidFill>
              <a:srgbClr val="1B2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31963" y="3963603"/>
            <a:ext cx="679797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B2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4588" y="3917962"/>
            <a:ext cx="1538112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extraction from all five source systems each cycle.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90575" y="5338775"/>
            <a:ext cx="16306849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0575" y="4765291"/>
            <a:ext cx="134106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BR-002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2209726" y="4741478"/>
            <a:ext cx="848072" cy="369094"/>
          </a:xfrm>
          <a:prstGeom prst="rect">
            <a:avLst/>
          </a:prstGeom>
          <a:ln w="7937">
            <a:solidFill>
              <a:srgbClr val="1B2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31963" y="4797041"/>
            <a:ext cx="679797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B2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14588" y="4751400"/>
            <a:ext cx="1538112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r>
              <a:rPr lang="en-US" sz="2250" dirty="0">
                <a:solidFill>
                  <a:srgbClr val="1C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gate block publishing on error, e.g., headcount above the approved plan.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575" y="6172212"/>
            <a:ext cx="16306849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90575" y="5598728"/>
            <a:ext cx="134106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BR-004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2209726" y="5574916"/>
            <a:ext cx="848072" cy="369094"/>
          </a:xfrm>
          <a:prstGeom prst="rect">
            <a:avLst/>
          </a:prstGeom>
          <a:ln w="7937">
            <a:solidFill>
              <a:srgbClr val="1B2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31963" y="5630478"/>
            <a:ext cx="679797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B2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314588" y="5584837"/>
            <a:ext cx="1538112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across the three tiers.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990575" y="7005650"/>
            <a:ext cx="16306849" cy="9525"/>
          </a:xfrm>
          <a:prstGeom prst="rect">
            <a:avLst/>
          </a:prstGeom>
          <a:solidFill>
            <a:srgbClr val="E3E1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90575" y="6432166"/>
            <a:ext cx="134106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BR-005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2209726" y="6408353"/>
            <a:ext cx="848072" cy="369094"/>
          </a:xfrm>
          <a:prstGeom prst="rect">
            <a:avLst/>
          </a:prstGeom>
          <a:ln w="7937">
            <a:solidFill>
              <a:srgbClr val="1B2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331963" y="6463916"/>
            <a:ext cx="679797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1B2C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MUST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14588" y="6418275"/>
            <a:ext cx="1538112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data refresh.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800074" y="7125301"/>
            <a:ext cx="16687849" cy="1174750"/>
          </a:xfrm>
          <a:prstGeom prst="rect">
            <a:avLst/>
          </a:prstGeom>
          <a:solidFill>
            <a:srgbClr val="EDEC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90575" y="7440228"/>
            <a:ext cx="1341065" cy="3595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BR-008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2096919" y="7484806"/>
            <a:ext cx="1149883" cy="369094"/>
          </a:xfrm>
          <a:prstGeom prst="rect">
            <a:avLst/>
          </a:prstGeom>
          <a:ln w="7937">
            <a:solidFill>
              <a:srgbClr val="3B6F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40875" y="7531267"/>
            <a:ext cx="981608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108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314588" y="7440228"/>
            <a:ext cx="14402321" cy="518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C20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Automate the FinTrack–Salesforce reconciliation and flag exceptions;</a:t>
            </a:r>
            <a:r>
              <a:rPr lang="en-US" sz="2250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single biggest manual task today.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90575" y="8814593"/>
            <a:ext cx="16306849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90575" y="9247063"/>
            <a:ext cx="1228502" cy="296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WHAT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409527" y="9147845"/>
            <a:ext cx="14156494" cy="41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32000"/>
              </a:lnSpc>
            </a:pPr>
            <a:r>
              <a:rPr lang="en-US" sz="22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requirement is a pass/fail condition; the dev team can build and test against them directly.</a:t>
            </a:r>
            <a:endParaRPr lang="en-US" sz="2250" dirty="0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575" y="876288"/>
            <a:ext cx="4379608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RISKS &amp; DECISIONS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5486869" y="884225"/>
            <a:ext cx="199161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9391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sign-off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575" y="1429494"/>
            <a:ext cx="16344900" cy="6553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8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risks are managed; four decisions need you.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990575" y="2465772"/>
            <a:ext cx="9220268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626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RISKS — MANAGED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990575" y="3057116"/>
            <a:ext cx="9220268" cy="391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1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PipelineDB export is broken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90575" y="3477307"/>
            <a:ext cx="9220268" cy="32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patch in 6–8 weeks.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990575" y="3944813"/>
            <a:ext cx="1509006" cy="296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514761" y="3881313"/>
            <a:ext cx="7063612" cy="701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runs on a scheduled manual extract, then migrates to the API.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90575" y="4906863"/>
            <a:ext cx="8382062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90575" y="5278251"/>
            <a:ext cx="9220268" cy="391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1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Chronic reconciliation mismatch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90575" y="5698443"/>
            <a:ext cx="9220268" cy="32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recurring 3–4 hour FinTrack–Salesforce gap.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90575" y="6165949"/>
            <a:ext cx="1509006" cy="296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514761" y="6102449"/>
            <a:ext cx="7113650" cy="369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19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rule-based matching; flag only the exceptions.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90575" y="6796174"/>
            <a:ext cx="8382062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575" y="7167563"/>
            <a:ext cx="9220268" cy="3916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2175" b="1" dirty="0">
                <a:solidFill>
                  <a:srgbClr val="1619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GCC approval window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990575" y="7587754"/>
            <a:ext cx="9220268" cy="3278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626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Cadenced approval gate.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90575" y="8055260"/>
            <a:ext cx="1509006" cy="296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MITIGATION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14761" y="7991760"/>
            <a:ext cx="7063612" cy="7017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>
              <a:lnSpc>
                <a:spcPct val="134000"/>
              </a:lnSpc>
            </a:pPr>
            <a:r>
              <a:rPr lang="en-US" sz="19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this cycle's meeting; miss it, and go-live slips up to a year.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10058424" y="2465772"/>
            <a:ext cx="7239000" cy="6272671"/>
          </a:xfrm>
          <a:prstGeom prst="rect">
            <a:avLst/>
          </a:prstGeom>
          <a:solidFill>
            <a:srgbClr val="1B2C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515574" y="2903885"/>
            <a:ext cx="6957169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DECISIONS — YOURS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515574" y="3499197"/>
            <a:ext cx="23625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0904202" y="3447604"/>
            <a:ext cx="5409282" cy="3954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100" dirty="0">
                <a:solidFill>
                  <a:srgbClr val="EE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IT GCC meeting and go-live date.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10515574" y="4052590"/>
            <a:ext cx="6324699" cy="9525"/>
          </a:xfrm>
          <a:prstGeom prst="rect">
            <a:avLst/>
          </a:prstGeom>
          <a:solidFill>
            <a:srgbClr val="2C3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15574" y="4361284"/>
            <a:ext cx="23625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0904202" y="4309690"/>
            <a:ext cx="6114154" cy="752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100" dirty="0">
                <a:solidFill>
                  <a:srgbClr val="EE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measurement window </a:t>
            </a:r>
            <a:r>
              <a:rPr lang="en-US" sz="2100" dirty="0">
                <a:solidFill>
                  <a:srgbClr val="AEB4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(proposed: within 3 months of go-live) </a:t>
            </a:r>
            <a:r>
              <a:rPr lang="en-US" sz="2100" dirty="0">
                <a:solidFill>
                  <a:srgbClr val="EE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515574" y="5272050"/>
            <a:ext cx="6324699" cy="9525"/>
          </a:xfrm>
          <a:prstGeom prst="rect">
            <a:avLst/>
          </a:prstGeom>
          <a:solidFill>
            <a:srgbClr val="2C3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515574" y="5580744"/>
            <a:ext cx="23625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0904202" y="5529151"/>
            <a:ext cx="6114154" cy="752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100" dirty="0">
                <a:solidFill>
                  <a:srgbClr val="EE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PipelineDB approach, plus compliance review for direct access to live deal data.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10515574" y="6491511"/>
            <a:ext cx="6324699" cy="9525"/>
          </a:xfrm>
          <a:prstGeom prst="rect">
            <a:avLst/>
          </a:prstGeom>
          <a:solidFill>
            <a:srgbClr val="2C3D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515574" y="6800205"/>
            <a:ext cx="236252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10904202" y="6748611"/>
            <a:ext cx="6114154" cy="752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100" dirty="0">
                <a:solidFill>
                  <a:srgbClr val="EEF0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CFO's real-time trading feed as a Phase 2 enhancement.</a:t>
            </a:r>
            <a:endParaRPr lang="en-US" sz="2100" dirty="0"/>
          </a:p>
        </p:txBody>
      </p:sp>
      <p:sp>
        <p:nvSpPr>
          <p:cNvPr id="34" name="Shape 32"/>
          <p:cNvSpPr/>
          <p:nvPr/>
        </p:nvSpPr>
        <p:spPr>
          <a:xfrm>
            <a:off x="990575" y="8814593"/>
            <a:ext cx="16306849" cy="9525"/>
          </a:xfrm>
          <a:prstGeom prst="rect">
            <a:avLst/>
          </a:prstGeom>
          <a:solidFill>
            <a:srgbClr val="D6D4C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90575" y="9247063"/>
            <a:ext cx="1228502" cy="296069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3B6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WHAT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2409527" y="9147845"/>
            <a:ext cx="8668153" cy="415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2250" dirty="0">
                <a:solidFill>
                  <a:srgbClr val="2C3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is ready to start the moment these are signed off.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63847"/>
            <a:ext cx="18288000" cy="10287000"/>
          </a:xfrm>
          <a:prstGeom prst="rect">
            <a:avLst/>
          </a:prstGeom>
          <a:solidFill>
            <a:srgbClr val="1619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90575" y="876288"/>
            <a:ext cx="3782405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RECOMMENDATION</a:t>
            </a:r>
            <a:endParaRPr lang="en-US" sz="1875" dirty="0"/>
          </a:p>
        </p:txBody>
      </p:sp>
      <p:sp>
        <p:nvSpPr>
          <p:cNvPr id="4" name="Text 2"/>
          <p:cNvSpPr/>
          <p:nvPr/>
        </p:nvSpPr>
        <p:spPr>
          <a:xfrm>
            <a:off x="16241241" y="884225"/>
            <a:ext cx="1132384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6F72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575" y="1429494"/>
            <a:ext cx="15304770" cy="12725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500" b="1" kern="0" spc="-8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BRD and lock the next IT GCC slot — everything else is ready to move.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990575" y="4807272"/>
            <a:ext cx="6477000" cy="27781"/>
          </a:xfrm>
          <a:prstGeom prst="rect">
            <a:avLst/>
          </a:prstGeom>
          <a:solidFill>
            <a:srgbClr val="3B6FB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0575" y="5120804"/>
            <a:ext cx="7124700" cy="296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 TODAY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575" y="5607347"/>
            <a:ext cx="6671310" cy="158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3450" b="1" kern="0" spc="-34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BRD v0.1 and confirm the target IT GCC meeting in this planning cycle.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8267650" y="3858555"/>
            <a:ext cx="9932752" cy="343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kern="0" spc="300" dirty="0">
                <a:solidFill>
                  <a:srgbClr val="8B8E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STEPS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8267650" y="5064931"/>
            <a:ext cx="9029774" cy="9525"/>
          </a:xfrm>
          <a:prstGeom prst="rect">
            <a:avLst/>
          </a:prstGeom>
          <a:solidFill>
            <a:srgbClr val="2C3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67650" y="4623656"/>
            <a:ext cx="362012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8801075" y="4564124"/>
            <a:ext cx="4325243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A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BRD sign-off, Will and IT GCC.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8267650" y="5745075"/>
            <a:ext cx="9029774" cy="9525"/>
          </a:xfrm>
          <a:prstGeom prst="rect">
            <a:avLst/>
          </a:prstGeom>
          <a:solidFill>
            <a:srgbClr val="2C3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67650" y="5303800"/>
            <a:ext cx="362012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801075" y="5244269"/>
            <a:ext cx="8725384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A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go-live target at the next third-Tuesday IT GCC meeting.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267650" y="6746689"/>
            <a:ext cx="9029774" cy="9525"/>
          </a:xfrm>
          <a:prstGeom prst="rect">
            <a:avLst/>
          </a:prstGeom>
          <a:solidFill>
            <a:srgbClr val="2C3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67650" y="5983945"/>
            <a:ext cx="362012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8801075" y="5924413"/>
            <a:ext cx="8751240" cy="688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A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the PipelineDB approach; start the compliance review with Risk.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8267650" y="7426833"/>
            <a:ext cx="9029774" cy="9525"/>
          </a:xfrm>
          <a:prstGeom prst="rect">
            <a:avLst/>
          </a:prstGeom>
          <a:solidFill>
            <a:srgbClr val="2C3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67650" y="6985558"/>
            <a:ext cx="362012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8801075" y="6926027"/>
            <a:ext cx="7622449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A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Power BI owner and kick off solution design.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67650" y="7665702"/>
            <a:ext cx="362012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7BA4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8801075" y="7606171"/>
            <a:ext cx="5872448" cy="363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DADC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the CFO real-time feed as Phase 2.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90575" y="8863583"/>
            <a:ext cx="16306849" cy="9525"/>
          </a:xfrm>
          <a:prstGeom prst="rect">
            <a:avLst/>
          </a:prstGeom>
          <a:solidFill>
            <a:srgbClr val="2C30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0575" y="9138171"/>
            <a:ext cx="17937534" cy="424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4000"/>
              </a:lnSpc>
              <a:buNone/>
            </a:pPr>
            <a:r>
              <a:rPr lang="en-US" sz="2250" dirty="0">
                <a:solidFill>
                  <a:srgbClr val="CD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</a:t>
            </a: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hours and a CFO-facing error </a:t>
            </a:r>
            <a:r>
              <a:rPr lang="en-US" sz="2250" dirty="0">
                <a:solidFill>
                  <a:srgbClr val="CD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</a:t>
            </a:r>
            <a:r>
              <a:rPr lang="en-US" sz="2250" b="1" dirty="0">
                <a:solidFill>
                  <a:srgbClr val="7BA4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 hours and zero undetected errors </a:t>
            </a:r>
            <a:r>
              <a:rPr lang="en-US" sz="2250" dirty="0">
                <a:solidFill>
                  <a:srgbClr val="CDD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deliverable this planning cycle.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1232</Words>
  <Application>Microsoft Macintosh PowerPoint</Application>
  <PresentationFormat>Custom</PresentationFormat>
  <Paragraphs>154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Mahmoud Elboghdady</cp:lastModifiedBy>
  <cp:revision>3</cp:revision>
  <dcterms:created xsi:type="dcterms:W3CDTF">2026-06-21T21:56:24Z</dcterms:created>
  <dcterms:modified xsi:type="dcterms:W3CDTF">2026-06-22T16:52:15Z</dcterms:modified>
</cp:coreProperties>
</file>